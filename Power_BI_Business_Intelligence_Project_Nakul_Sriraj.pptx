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Sales by year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139A8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 (to Mar 15)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11.69</c:v>
                </c:pt>
                <c:pt idx="1">
                  <c:v>11.57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8D-47F3-B5B6-B289D17B2C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Monthly sales ($K)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ln w="31750" cap="flat">
              <a:solidFill>
                <a:srgbClr val="5A667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5A6675"/>
              </a:solidFill>
              <a:ln w="9525" cap="flat">
                <a:solidFill>
                  <a:srgbClr val="5A6675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1025</c:v>
                </c:pt>
                <c:pt idx="1">
                  <c:v>990</c:v>
                </c:pt>
                <c:pt idx="2">
                  <c:v>917</c:v>
                </c:pt>
                <c:pt idx="3">
                  <c:v>954</c:v>
                </c:pt>
                <c:pt idx="4">
                  <c:v>1011</c:v>
                </c:pt>
                <c:pt idx="5">
                  <c:v>1050</c:v>
                </c:pt>
                <c:pt idx="6">
                  <c:v>893</c:v>
                </c:pt>
                <c:pt idx="7">
                  <c:v>923</c:v>
                </c:pt>
                <c:pt idx="8">
                  <c:v>993</c:v>
                </c:pt>
                <c:pt idx="9">
                  <c:v>917</c:v>
                </c:pt>
                <c:pt idx="10">
                  <c:v>1019</c:v>
                </c:pt>
                <c:pt idx="11">
                  <c:v>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AE-4519-8DAC-07DC67C236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ln w="31750" cap="flat">
              <a:solidFill>
                <a:srgbClr val="139A8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39A8E"/>
              </a:solidFill>
              <a:ln w="9525" cap="flat">
                <a:solidFill>
                  <a:srgbClr val="139A8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945</c:v>
                </c:pt>
                <c:pt idx="1">
                  <c:v>913</c:v>
                </c:pt>
                <c:pt idx="2">
                  <c:v>984</c:v>
                </c:pt>
                <c:pt idx="3">
                  <c:v>985</c:v>
                </c:pt>
                <c:pt idx="4">
                  <c:v>866</c:v>
                </c:pt>
                <c:pt idx="5">
                  <c:v>1017</c:v>
                </c:pt>
                <c:pt idx="6">
                  <c:v>938</c:v>
                </c:pt>
                <c:pt idx="7">
                  <c:v>888</c:v>
                </c:pt>
                <c:pt idx="8">
                  <c:v>960</c:v>
                </c:pt>
                <c:pt idx="9">
                  <c:v>982</c:v>
                </c:pt>
                <c:pt idx="10">
                  <c:v>1035</c:v>
                </c:pt>
                <c:pt idx="11">
                  <c:v>1053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AE-4519-8DAC-07DC67C236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2023</c:v>
                </c:pt>
              </c:strCache>
            </c:strRef>
          </c:tx>
          <c:spPr>
            <a:ln w="31750" cap="flat">
              <a:solidFill>
                <a:srgbClr val="F2A41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2A413"/>
              </a:solidFill>
              <a:ln w="9525" cap="flat">
                <a:solidFill>
                  <a:srgbClr val="F2A41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977</c:v>
                </c:pt>
                <c:pt idx="2">
                  <c:v>528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AE-4519-8DAC-07DC67C23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"/>
          <c:min val="40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67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Top 10 products by gross profit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($K)</c:v>
                </c:pt>
              </c:strCache>
            </c:strRef>
          </c:tx>
          <c:spPr>
            <a:solidFill>
              <a:srgbClr val="139A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Product 96</c:v>
                </c:pt>
                <c:pt idx="1">
                  <c:v>Product 29</c:v>
                </c:pt>
                <c:pt idx="2">
                  <c:v>Product 34</c:v>
                </c:pt>
                <c:pt idx="3">
                  <c:v>Product 31</c:v>
                </c:pt>
                <c:pt idx="4">
                  <c:v>Product 51</c:v>
                </c:pt>
                <c:pt idx="5">
                  <c:v>Product 64</c:v>
                </c:pt>
                <c:pt idx="6">
                  <c:v>Product 47</c:v>
                </c:pt>
                <c:pt idx="7">
                  <c:v>Product 79</c:v>
                </c:pt>
                <c:pt idx="8">
                  <c:v>Product 41</c:v>
                </c:pt>
                <c:pt idx="9">
                  <c:v>Product 28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178</c:v>
                </c:pt>
                <c:pt idx="1">
                  <c:v>187</c:v>
                </c:pt>
                <c:pt idx="2">
                  <c:v>184</c:v>
                </c:pt>
                <c:pt idx="3">
                  <c:v>197</c:v>
                </c:pt>
                <c:pt idx="4">
                  <c:v>197</c:v>
                </c:pt>
                <c:pt idx="5">
                  <c:v>203</c:v>
                </c:pt>
                <c:pt idx="6">
                  <c:v>206</c:v>
                </c:pt>
                <c:pt idx="7">
                  <c:v>209</c:v>
                </c:pt>
                <c:pt idx="8">
                  <c:v>214</c:v>
                </c:pt>
                <c:pt idx="9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E4-4791-8FD4-2B27C038BC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Sales by county, top 6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1220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Alameda</c:v>
                </c:pt>
                <c:pt idx="1">
                  <c:v>Riverside</c:v>
                </c:pt>
                <c:pt idx="2">
                  <c:v>San Bernardino</c:v>
                </c:pt>
                <c:pt idx="3">
                  <c:v>San Diego</c:v>
                </c:pt>
                <c:pt idx="4">
                  <c:v>Orange</c:v>
                </c:pt>
                <c:pt idx="5">
                  <c:v>Los Angeles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1.46</c:v>
                </c:pt>
                <c:pt idx="1">
                  <c:v>2.08</c:v>
                </c:pt>
                <c:pt idx="2">
                  <c:v>2.41</c:v>
                </c:pt>
                <c:pt idx="3">
                  <c:v>2.46</c:v>
                </c:pt>
                <c:pt idx="4">
                  <c:v>2.6</c:v>
                </c:pt>
                <c:pt idx="5">
                  <c:v>5.63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E4-41BF-9D72-227C99545E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3A"/>
                </a:solidFill>
                <a:latin typeface="Calibri"/>
              </a:rPr>
              <a:t>Budget vs. actual, 74 locations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spPr>
            <a:solidFill>
              <a:srgbClr val="F2A41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Annual budget</c:v>
                </c:pt>
                <c:pt idx="1">
                  <c:v>2021 actual</c:v>
                </c:pt>
                <c:pt idx="2">
                  <c:v>2022 actual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3.21</c:v>
                </c:pt>
                <c:pt idx="1">
                  <c:v>11.69</c:v>
                </c:pt>
                <c:pt idx="2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B6-4FA8-91A3-5DFCF8184A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37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822960"/>
            <a:ext cx="4572000" cy="4572000"/>
          </a:xfrm>
          <a:prstGeom prst="ellipse">
            <a:avLst/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651760"/>
            <a:ext cx="3108960" cy="3108960"/>
          </a:xfrm>
          <a:prstGeom prst="ellipse">
            <a:avLst/>
          </a:prstGeom>
          <a:solidFill>
            <a:srgbClr val="139A8E">
              <a:alpha val="65000"/>
            </a:srgbClr>
          </a:solidFill>
          <a:ln w="12700">
            <a:solidFill>
              <a:srgbClr val="139A8E">
                <a:alpha val="6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 ·  BUSINESS ANALYTICS CASE STUDY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4400" dirty="0">
                <a:solidFill>
                  <a:schemeClr val="bg1"/>
                </a:solidFill>
              </a:rPr>
              <a:t>Power BI Business Intelligence Project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business is performing, where revenue and profit come from, and where management should focus.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Chindanur Nakul Sriraj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805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10,889 orders  ·  Jan 2021 – Mar 2023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Managers rely on manual Excel reports, so key questions go unanswered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is our business performing, where are we generating the most revenue and profit, and where should management focus?”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2044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03320" y="1408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visibility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719072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view of revenue, orders and margin across 3 years.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408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profitability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719072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 and thin-margin products are not separated.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20440" y="2971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03320" y="30998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410712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patterns and concentration risk go unmeasured.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971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46520" y="30998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tracking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10712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planned performance is rarely monitored.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yearly sales tables were cleaned and appended into one fact table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10,889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48256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048256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048256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39312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39312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0368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30368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509 / 801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bought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21424" y="123444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21424" y="1362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1856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salespeople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steps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8346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9 sheets; profile types, nulls, keys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2021, 2022, 2023 into Fact_Sales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names; set data types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unused columns (blank Budgeting cols)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Sales, Cost and Profit columns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4632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findings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8346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order IDs and no nulls in sales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covers Jan 1 – Mar 15 only (partial year)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74 locations are in California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location names do not match the Locations table for the same ID (0 of 74)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 schema keeps every relationship simple and filterable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645920" y="1645920"/>
            <a:ext cx="1554480" cy="14173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200400" y="1645920"/>
            <a:ext cx="1371600" cy="14173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017520"/>
            <a:ext cx="1920240" cy="457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200400" y="3017520"/>
            <a:ext cx="1737360" cy="457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3063240"/>
            <a:ext cx="91440" cy="1188720"/>
          </a:xfrm>
          <a:prstGeom prst="line">
            <a:avLst/>
          </a:prstGeom>
          <a:noFill/>
          <a:ln w="19050">
            <a:solidFill>
              <a:srgbClr val="5A66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25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325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063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6974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Dim_Salesperson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063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39319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39A8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68880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4297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(marked)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6974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12203A"/>
          </a:solidFill>
          <a:ln w="25400">
            <a:solidFill>
              <a:srgbClr val="F2A41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74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3108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· Price · Order 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3258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30936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One-to-many, single-direction filters from each dimension to the fact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marked as the official date table; months sorted by month number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related through Location ID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turn the model into KPIs, comparisons and rankings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profitability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9164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Sales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SUMX(Fact_Sales, Qty * Price)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Margin %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DIVIDE([Gross Profit], [Total Sales])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Sales], [Total Orders])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10712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169164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YTD Sales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TOTALYTD([Total Sales], Dim_Date[Date])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Sales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 Sales],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SAMEPERIODLASTYEAR(Dim_Date[Date]))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YoY %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Sales]-[PY Sales], [PY Sales])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99632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ranking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69164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Sales] - [Budget]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Achievement %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Sales], [Budget])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=</a:t>
            </a:r>
            <a:endParaRPr lang="en-US" sz="9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50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RANKX(ALL(Dim_Product), [Total Sales])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hold row-level values (line sales, cost). Measures handle everything that must respond to slicers.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steady $11.6M-a-year business with a stable 32.5% margin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$25.66M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0552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130552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$8.34M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03904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39A8E"/>
          </a:solidFill>
          <a:ln w="12700">
            <a:solidFill>
              <a:srgbClr val="139A8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03904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803904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77256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77256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10,889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477256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50608" y="11887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50608" y="13167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$2,357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18105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20" name="Chart 0"/>
          <p:cNvGraphicFramePr/>
          <p:nvPr/>
        </p:nvGraphicFramePr>
        <p:xfrm>
          <a:off x="548640" y="2331720"/>
          <a:ext cx="4572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394960" y="22860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577840" y="2414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Like-for-like, Jan 1 – Mar 15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577840" y="2724912"/>
            <a:ext cx="2926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$2.47M   2022: $2.32M   2023: $2.40M. The latest quarter is +3.7% vs 2022, so the raw −79% drop is only a partial year.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394960" y="379476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577840" y="3922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never moves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4233672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32.6%, 32.5%, 32.5% for 2021, 2022 and 2023.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flat year over year, with a modest Q4 lift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548640" y="123444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8872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035040" y="1316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and troughs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627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Highest: Nov, Dec and Jun. Lowest: Jul and Aug, the summer dip.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0" y="24231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035040" y="2551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quarter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8620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2022 at $3.07M. 2022 finished −1.1% vs 2021.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52160" y="356616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035040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real drop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4005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2023 looks low only because data ends on Mar 15.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comes from margin mix, not just sales volume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548640" y="1234440"/>
          <a:ext cx="43891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1887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394960" y="1316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sellers, thin margins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627632"/>
            <a:ext cx="3108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84 ($529K, 17%), Product 66 (18%) and Product 4 (15%) sell well but keep little profit. 15 of 101 products are under 20%.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12080" y="28803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394960" y="3008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revenue ≠ best profit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3319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63 leads revenue ($628K) at 28% margin. Product 28 leads profit ($248K) at 41%.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12080" y="388620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394960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dependency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43251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= 5.4% of sales; 155 of 509 buyers deliver half.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spread widely, but population does not drive them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548640" y="123444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84632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opportunity: big cities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627632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vs. population correlation is only 0.07. Los Angeles (3.97M residents) sells $382K, about $96 per 1,000 people, vs. $575 in Fresno.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29718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46320" y="3099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Even, healthy sales team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3410712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reps, margins all within 31–34%. Kenneth Bradley leads sales ($679K) and profit ($227K); Ryan Welch has the most orders (273).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budget cannot be trusted yet: actuals run about 3.6x plan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548640" y="123444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1887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84632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location beats budget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6276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ranges from 1.7x to 8.5x per location, so no site misses plan.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23774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4632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flag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816352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names do not match Locations for the same ID, and 23 budget locations have no sales.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846320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405079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budget scale and location mapping before reporting achievement to management.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and recommendations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&amp; Budget Intelligence  | 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9A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32.5% margin in every year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dependency: top 10 = 5.4%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74 locations and 45 reps sell consistently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Concerns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18745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flat: 2022 was −1.1% vs 2021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products below 20% margin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data does not reconcile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1C2F4F"/>
          </a:solidFill>
          <a:ln w="12700">
            <a:solidFill>
              <a:srgbClr val="1C2F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2A4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18745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or re-cost Products 84, 66 and 4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growth in LA, San Diego and San Jose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budget master data; run a Jul–Aug promotion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1089</Words>
  <Application>Microsoft Office PowerPoint</Application>
  <PresentationFormat>On-screen Show (16:9)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Performance &amp; Budget Intelligence Dashboard</dc:title>
  <dc:subject>PptxGenJS Presentation</dc:subject>
  <dc:creator>PptxGenJS</dc:creator>
  <cp:lastModifiedBy>CHINDANUR NAKUL SRIRAJ</cp:lastModifiedBy>
  <cp:revision>2</cp:revision>
  <dcterms:created xsi:type="dcterms:W3CDTF">2026-09-28T12:49:03Z</dcterms:created>
  <dcterms:modified xsi:type="dcterms:W3CDTF">2026-09-28T12:52:04Z</dcterms:modified>
</cp:coreProperties>
</file>